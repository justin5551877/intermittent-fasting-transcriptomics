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6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supplied by the user for Figure 1 of an intermittent fasting transcriptomics project. IF = intermittent fasting. BL = baseline. M6 = 6 months. QC = quality control. PCA = principal component analysis. GSEA = gene set enrichment analysis. FDR = false discovery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1">
            <a:extLst>
              <a:ext uri="{FF2B5EF4-FFF2-40B4-BE49-F238E27FC236}">
                <a16:creationId xmlns:a16="http://schemas.microsoft.com/office/drawing/2014/main" id="{175B2EE0-D8A5-4F97-B2C0-FD1941E6DE93}"/>
              </a:ext>
            </a:extLst>
          </p:cNvPr>
          <p:cNvSpPr>
            <a:spLocks noGrp="1"/>
          </p:cNvSpPr>
          <p:nvPr/>
        </p:nvSpPr>
        <p:spPr>
          <a:xfrm>
            <a:off x="381000" y="266700"/>
            <a:ext cx="14478000" cy="542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Figure 1. Study design and transcriptomic analysis workflow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F13EC2E-0A46-4589-B5DB-E325C03A5ECE}"/>
              </a:ext>
            </a:extLst>
          </p:cNvPr>
          <p:cNvSpPr>
            <a:spLocks noGrp="1"/>
          </p:cNvSpPr>
          <p:nvPr/>
        </p:nvSpPr>
        <p:spPr>
          <a:xfrm>
            <a:off x="339648" y="1066800"/>
            <a:ext cx="3448050" cy="7105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BC962BA-7C04-4045-ACD6-968AC651F76C}"/>
              </a:ext>
            </a:extLst>
          </p:cNvPr>
          <p:cNvSpPr>
            <a:spLocks noGrp="1"/>
          </p:cNvSpPr>
          <p:nvPr/>
        </p:nvSpPr>
        <p:spPr>
          <a:xfrm>
            <a:off x="381000" y="1066800"/>
            <a:ext cx="3448050" cy="781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0774A35-126A-49DF-9CAF-D1E7683D247E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3067050" cy="523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A. Study design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A0904EB-1CBB-40CB-B1E9-BE9C422F673F}"/>
              </a:ext>
            </a:extLst>
          </p:cNvPr>
          <p:cNvSpPr>
            <a:spLocks noGrp="1"/>
          </p:cNvSpPr>
          <p:nvPr/>
        </p:nvSpPr>
        <p:spPr>
          <a:xfrm>
            <a:off x="4057650" y="1066800"/>
            <a:ext cx="3448050" cy="7105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856DB60-D990-4157-9F0B-2DEC12A3C6CC}"/>
              </a:ext>
            </a:extLst>
          </p:cNvPr>
          <p:cNvSpPr>
            <a:spLocks noGrp="1"/>
          </p:cNvSpPr>
          <p:nvPr/>
        </p:nvSpPr>
        <p:spPr>
          <a:xfrm>
            <a:off x="4057650" y="1066800"/>
            <a:ext cx="3448050" cy="781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FD9C821-8DF9-4056-BC33-3715EA2C4636}"/>
              </a:ext>
            </a:extLst>
          </p:cNvPr>
          <p:cNvSpPr>
            <a:spLocks noGrp="1"/>
          </p:cNvSpPr>
          <p:nvPr/>
        </p:nvSpPr>
        <p:spPr>
          <a:xfrm>
            <a:off x="4248150" y="1200150"/>
            <a:ext cx="3067050" cy="523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B. Sample collection</a:t>
            </a:r>
          </a:p>
          <a:p>
            <a:pPr algn="l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and RNA-seq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82775C8-C692-4E11-A44A-F499AE5445D8}"/>
              </a:ext>
            </a:extLst>
          </p:cNvPr>
          <p:cNvSpPr>
            <a:spLocks noGrp="1"/>
          </p:cNvSpPr>
          <p:nvPr/>
        </p:nvSpPr>
        <p:spPr>
          <a:xfrm>
            <a:off x="7734300" y="1066800"/>
            <a:ext cx="3448050" cy="7105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7C5E3F0-8DD3-4953-BA96-8AF05ABA09CD}"/>
              </a:ext>
            </a:extLst>
          </p:cNvPr>
          <p:cNvSpPr>
            <a:spLocks noGrp="1"/>
          </p:cNvSpPr>
          <p:nvPr/>
        </p:nvSpPr>
        <p:spPr>
          <a:xfrm>
            <a:off x="7734300" y="1066800"/>
            <a:ext cx="3448050" cy="781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D3ADD07-2A7C-483E-B1EA-9F57A422022C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067050" cy="523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C. Statistical analysis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98CA9A3-A8ED-4AE3-BE0C-5974591F0391}"/>
              </a:ext>
            </a:extLst>
          </p:cNvPr>
          <p:cNvSpPr>
            <a:spLocks noGrp="1"/>
          </p:cNvSpPr>
          <p:nvPr/>
        </p:nvSpPr>
        <p:spPr>
          <a:xfrm>
            <a:off x="11410950" y="1066800"/>
            <a:ext cx="3448050" cy="7105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AD0ACEC-D3F1-4852-BB15-5826830A02A3}"/>
              </a:ext>
            </a:extLst>
          </p:cNvPr>
          <p:cNvSpPr>
            <a:spLocks noGrp="1"/>
          </p:cNvSpPr>
          <p:nvPr/>
        </p:nvSpPr>
        <p:spPr>
          <a:xfrm>
            <a:off x="11410950" y="1066800"/>
            <a:ext cx="3448050" cy="781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E2C16F9-9ADF-4E77-B2D2-09A5D9DF188D}"/>
              </a:ext>
            </a:extLst>
          </p:cNvPr>
          <p:cNvSpPr>
            <a:spLocks noGrp="1"/>
          </p:cNvSpPr>
          <p:nvPr/>
        </p:nvSpPr>
        <p:spPr>
          <a:xfrm>
            <a:off x="11601450" y="1200150"/>
            <a:ext cx="3067050" cy="523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D. Main findings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4D3BE3F-EB70-4D0B-B06D-AA85C16CE4F8}"/>
              </a:ext>
            </a:extLst>
          </p:cNvPr>
          <p:cNvSpPr>
            <a:spLocks noGrp="1"/>
          </p:cNvSpPr>
          <p:nvPr/>
        </p:nvSpPr>
        <p:spPr>
          <a:xfrm>
            <a:off x="590550" y="2181225"/>
            <a:ext cx="3028950" cy="3619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28 paired participants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F5A3A71-C0C7-440D-9CC8-C8DDC17FE7C4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3028950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717B"/>
                </a:solidFill>
                <a:latin typeface="Arial"/>
                <a:ea typeface="Arial"/>
                <a:cs typeface="Arial"/>
              </a:rPr>
              <a:t>Samples at both time points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FE2E36A-B5A9-45C6-AE2F-8C99BDE86C47}"/>
              </a:ext>
            </a:extLst>
          </p:cNvPr>
          <p:cNvSpPr>
            <a:spLocks noGrp="1"/>
          </p:cNvSpPr>
          <p:nvPr/>
        </p:nvSpPr>
        <p:spPr>
          <a:xfrm>
            <a:off x="590550" y="3057525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04C753A-8952-4B79-B3A8-47ABCC48EC5F}"/>
              </a:ext>
            </a:extLst>
          </p:cNvPr>
          <p:cNvSpPr>
            <a:spLocks noGrp="1"/>
          </p:cNvSpPr>
          <p:nvPr/>
        </p:nvSpPr>
        <p:spPr>
          <a:xfrm>
            <a:off x="552450" y="3600450"/>
            <a:ext cx="3028950" cy="1371600"/>
          </a:xfrm>
          <a:prstGeom prst="rect">
            <a:avLst/>
          </a:prstGeom>
          <a:solidFill>
            <a:srgbClr val="F3F6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0E2AFD22-8F2D-4A51-BA57-2FC30791106F}"/>
              </a:ext>
            </a:extLst>
          </p:cNvPr>
          <p:cNvSpPr>
            <a:spLocks noGrp="1"/>
          </p:cNvSpPr>
          <p:nvPr/>
        </p:nvSpPr>
        <p:spPr>
          <a:xfrm>
            <a:off x="742950" y="3686175"/>
            <a:ext cx="2724150" cy="323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486D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86D91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E45E94E-0561-411B-9B6A-F724F47A6BFC}"/>
              </a:ext>
            </a:extLst>
          </p:cNvPr>
          <p:cNvSpPr>
            <a:spLocks noGrp="1"/>
          </p:cNvSpPr>
          <p:nvPr/>
        </p:nvSpPr>
        <p:spPr>
          <a:xfrm>
            <a:off x="742950" y="4105275"/>
            <a:ext cx="2724150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n = 14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A8E788F-7190-4BD2-A915-20106ED96ABF}"/>
              </a:ext>
            </a:extLst>
          </p:cNvPr>
          <p:cNvSpPr>
            <a:spLocks noGrp="1"/>
          </p:cNvSpPr>
          <p:nvPr/>
        </p:nvSpPr>
        <p:spPr>
          <a:xfrm>
            <a:off x="742950" y="4505325"/>
            <a:ext cx="2724150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Baseline → 6 months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0D0B257-EB75-4517-B10D-5B8AB4502C55}"/>
              </a:ext>
            </a:extLst>
          </p:cNvPr>
          <p:cNvSpPr>
            <a:spLocks noGrp="1"/>
          </p:cNvSpPr>
          <p:nvPr/>
        </p:nvSpPr>
        <p:spPr>
          <a:xfrm>
            <a:off x="590550" y="5314950"/>
            <a:ext cx="3028950" cy="1371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38A4543-C5B5-417E-89D3-6B59A82A7A27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2724150" cy="323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1">
                <a:solidFill>
                  <a:srgbClr val="287D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D78"/>
                </a:solidFill>
                <a:latin typeface="Arial"/>
                <a:ea typeface="Arial"/>
                <a:cs typeface="Arial"/>
              </a:rPr>
              <a:t>Intermittent fasting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6891A51-BDD1-42EF-BAD4-B87419E420D1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2724150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n = 14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6BEBF08-73E8-47A7-A1B6-5FEA46036A11}"/>
              </a:ext>
            </a:extLst>
          </p:cNvPr>
          <p:cNvSpPr>
            <a:spLocks noGrp="1"/>
          </p:cNvSpPr>
          <p:nvPr/>
        </p:nvSpPr>
        <p:spPr>
          <a:xfrm>
            <a:off x="742950" y="6286500"/>
            <a:ext cx="2724150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Baseline → 6 months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63D781B-8018-41AC-AEC0-425EEE6B264D}"/>
              </a:ext>
            </a:extLst>
          </p:cNvPr>
          <p:cNvSpPr>
            <a:spLocks noGrp="1"/>
          </p:cNvSpPr>
          <p:nvPr/>
        </p:nvSpPr>
        <p:spPr>
          <a:xfrm>
            <a:off x="4267200" y="2114550"/>
            <a:ext cx="3028950" cy="619125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62EBC69-8A3B-400D-BD5B-A7CF411A2B7D}"/>
              </a:ext>
            </a:extLst>
          </p:cNvPr>
          <p:cNvSpPr>
            <a:spLocks noGrp="1"/>
          </p:cNvSpPr>
          <p:nvPr/>
        </p:nvSpPr>
        <p:spPr>
          <a:xfrm>
            <a:off x="4381500" y="2162175"/>
            <a:ext cx="2800350" cy="523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Sigmoid colon</a:t>
            </a:r>
          </a:p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mucosal biopsy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A94FD803-D463-4ABD-9237-8050BFEB0C2E}"/>
              </a:ext>
            </a:extLst>
          </p:cNvPr>
          <p:cNvSpPr>
            <a:spLocks noGrp="1"/>
          </p:cNvSpPr>
          <p:nvPr/>
        </p:nvSpPr>
        <p:spPr>
          <a:xfrm>
            <a:off x="4267200" y="276225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31BBF13-0988-4B46-935A-46CCBBF8982E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028950" cy="514350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6B7E4A8E-4D70-4DED-9E68-08C1DE0440EE}"/>
              </a:ext>
            </a:extLst>
          </p:cNvPr>
          <p:cNvSpPr>
            <a:spLocks noGrp="1"/>
          </p:cNvSpPr>
          <p:nvPr/>
        </p:nvSpPr>
        <p:spPr>
          <a:xfrm>
            <a:off x="4381500" y="3152775"/>
            <a:ext cx="2800350" cy="419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RNA extraction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9B0C814B-6BA6-4581-A284-5B743FE792A7}"/>
              </a:ext>
            </a:extLst>
          </p:cNvPr>
          <p:cNvSpPr>
            <a:spLocks noGrp="1"/>
          </p:cNvSpPr>
          <p:nvPr/>
        </p:nvSpPr>
        <p:spPr>
          <a:xfrm>
            <a:off x="4267200" y="363855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01768C79-99FE-4969-B072-33BD9F0EACFF}"/>
              </a:ext>
            </a:extLst>
          </p:cNvPr>
          <p:cNvSpPr>
            <a:spLocks noGrp="1"/>
          </p:cNvSpPr>
          <p:nvPr/>
        </p:nvSpPr>
        <p:spPr>
          <a:xfrm>
            <a:off x="4267200" y="3971925"/>
            <a:ext cx="3028950" cy="514350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C2952A43-AA6B-404A-A409-B5FE6927728B}"/>
              </a:ext>
            </a:extLst>
          </p:cNvPr>
          <p:cNvSpPr>
            <a:spLocks noGrp="1"/>
          </p:cNvSpPr>
          <p:nvPr/>
        </p:nvSpPr>
        <p:spPr>
          <a:xfrm>
            <a:off x="4381500" y="4019550"/>
            <a:ext cx="2800350" cy="419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RNA sequencing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9CCA812-717A-405E-8D02-5D20F91BC126}"/>
              </a:ext>
            </a:extLst>
          </p:cNvPr>
          <p:cNvSpPr>
            <a:spLocks noGrp="1"/>
          </p:cNvSpPr>
          <p:nvPr/>
        </p:nvSpPr>
        <p:spPr>
          <a:xfrm>
            <a:off x="4267200" y="4505325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8BA433D-0F96-4E28-8D5F-D73FB3D0D4DC}"/>
              </a:ext>
            </a:extLst>
          </p:cNvPr>
          <p:cNvSpPr>
            <a:spLocks noGrp="1"/>
          </p:cNvSpPr>
          <p:nvPr/>
        </p:nvSpPr>
        <p:spPr>
          <a:xfrm>
            <a:off x="4267200" y="4838700"/>
            <a:ext cx="3028950" cy="514350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90D4E8B6-0305-4D19-8D36-21DA6F08BEB5}"/>
              </a:ext>
            </a:extLst>
          </p:cNvPr>
          <p:cNvSpPr>
            <a:spLocks noGrp="1"/>
          </p:cNvSpPr>
          <p:nvPr/>
        </p:nvSpPr>
        <p:spPr>
          <a:xfrm>
            <a:off x="4381500" y="4886325"/>
            <a:ext cx="2800350" cy="419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Raw gene counts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2DE43821-1C70-4A94-BC08-40B77D7B4D97}"/>
              </a:ext>
            </a:extLst>
          </p:cNvPr>
          <p:cNvSpPr>
            <a:spLocks noGrp="1"/>
          </p:cNvSpPr>
          <p:nvPr/>
        </p:nvSpPr>
        <p:spPr>
          <a:xfrm>
            <a:off x="4267200" y="5657850"/>
            <a:ext cx="3028950" cy="323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62,757 detected features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A1F206A1-6AAD-4B31-8B38-A7B81B4725C9}"/>
              </a:ext>
            </a:extLst>
          </p:cNvPr>
          <p:cNvSpPr>
            <a:spLocks noGrp="1"/>
          </p:cNvSpPr>
          <p:nvPr/>
        </p:nvSpPr>
        <p:spPr>
          <a:xfrm>
            <a:off x="4267200" y="603885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16A6F11A-6A77-41BA-B0A8-19E28E921364}"/>
              </a:ext>
            </a:extLst>
          </p:cNvPr>
          <p:cNvSpPr>
            <a:spLocks noGrp="1"/>
          </p:cNvSpPr>
          <p:nvPr/>
        </p:nvSpPr>
        <p:spPr>
          <a:xfrm>
            <a:off x="4267200" y="6400800"/>
            <a:ext cx="3028950" cy="504825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B8C4CE63-9B9E-4E78-AFC3-13E9B2CAA7A6}"/>
              </a:ext>
            </a:extLst>
          </p:cNvPr>
          <p:cNvSpPr>
            <a:spLocks noGrp="1"/>
          </p:cNvSpPr>
          <p:nvPr/>
        </p:nvSpPr>
        <p:spPr>
          <a:xfrm>
            <a:off x="4381500" y="6448425"/>
            <a:ext cx="2800350" cy="4095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Low-expression filtering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737D49FD-1DE6-4873-A5E5-BD68F854E35A}"/>
              </a:ext>
            </a:extLst>
          </p:cNvPr>
          <p:cNvSpPr>
            <a:spLocks noGrp="1"/>
          </p:cNvSpPr>
          <p:nvPr/>
        </p:nvSpPr>
        <p:spPr>
          <a:xfrm>
            <a:off x="4267200" y="695325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2AB3540A-A0AA-4130-8C01-A106724E7607}"/>
              </a:ext>
            </a:extLst>
          </p:cNvPr>
          <p:cNvSpPr>
            <a:spLocks noGrp="1"/>
          </p:cNvSpPr>
          <p:nvPr/>
        </p:nvSpPr>
        <p:spPr>
          <a:xfrm>
            <a:off x="4267200" y="7343775"/>
            <a:ext cx="3028950" cy="352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1">
                <a:solidFill>
                  <a:srgbClr val="287D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7D78"/>
                </a:solidFill>
                <a:latin typeface="Arial"/>
                <a:ea typeface="Arial"/>
                <a:cs typeface="Arial"/>
              </a:rPr>
              <a:t>20,835 genes retained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32A42969-DAB1-48A4-99CA-E562289C18A6}"/>
              </a:ext>
            </a:extLst>
          </p:cNvPr>
          <p:cNvSpPr>
            <a:spLocks noGrp="1"/>
          </p:cNvSpPr>
          <p:nvPr/>
        </p:nvSpPr>
        <p:spPr>
          <a:xfrm>
            <a:off x="7943850" y="2114550"/>
            <a:ext cx="3028950" cy="514350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12D85D55-D0E0-492C-98A7-A3C954FADB7B}"/>
              </a:ext>
            </a:extLst>
          </p:cNvPr>
          <p:cNvSpPr>
            <a:spLocks noGrp="1"/>
          </p:cNvSpPr>
          <p:nvPr/>
        </p:nvSpPr>
        <p:spPr>
          <a:xfrm>
            <a:off x="8058150" y="2162175"/>
            <a:ext cx="2800350" cy="419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QC and PCA</a:t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6D6DDC4F-4163-4C00-8841-B2B4DABBF588}"/>
              </a:ext>
            </a:extLst>
          </p:cNvPr>
          <p:cNvSpPr>
            <a:spLocks noGrp="1"/>
          </p:cNvSpPr>
          <p:nvPr/>
        </p:nvSpPr>
        <p:spPr>
          <a:xfrm>
            <a:off x="7943850" y="2657475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EFC26990-994A-4D57-AA10-0394E0723969}"/>
              </a:ext>
            </a:extLst>
          </p:cNvPr>
          <p:cNvSpPr>
            <a:spLocks noGrp="1"/>
          </p:cNvSpPr>
          <p:nvPr/>
        </p:nvSpPr>
        <p:spPr>
          <a:xfrm>
            <a:off x="7943850" y="3000375"/>
            <a:ext cx="3028950" cy="514350"/>
          </a:xfrm>
          <a:prstGeom prst="rect">
            <a:avLst/>
          </a:prstGeom>
          <a:solidFill>
            <a:srgbClr val="F3F7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5FBF7056-7807-43C4-8C4F-6217C3A95C14}"/>
              </a:ext>
            </a:extLst>
          </p:cNvPr>
          <p:cNvSpPr>
            <a:spLocks noGrp="1"/>
          </p:cNvSpPr>
          <p:nvPr/>
        </p:nvSpPr>
        <p:spPr>
          <a:xfrm>
            <a:off x="8058150" y="3048000"/>
            <a:ext cx="2800350" cy="419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Paired DESeq2 model</a:t>
            </a:r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61C29967-FAC9-4C88-8C50-F641B4B70583}"/>
              </a:ext>
            </a:extLst>
          </p:cNvPr>
          <p:cNvSpPr>
            <a:spLocks noGrp="1"/>
          </p:cNvSpPr>
          <p:nvPr/>
        </p:nvSpPr>
        <p:spPr>
          <a:xfrm>
            <a:off x="7943850" y="3590925"/>
            <a:ext cx="3028950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~ participant + time + IF_M6</a:t>
            </a:r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E33E47FC-762C-4DBB-AC60-151D75516C44}"/>
              </a:ext>
            </a:extLst>
          </p:cNvPr>
          <p:cNvSpPr>
            <a:spLocks noGrp="1"/>
          </p:cNvSpPr>
          <p:nvPr/>
        </p:nvSpPr>
        <p:spPr>
          <a:xfrm>
            <a:off x="7943850" y="4133850"/>
            <a:ext cx="3028950" cy="266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717B"/>
                </a:solidFill>
                <a:latin typeface="Arial"/>
                <a:ea typeface="Arial"/>
                <a:cs typeface="Arial"/>
              </a:rPr>
              <a:t>Primary contrast</a:t>
            </a:r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FF131800-B844-4254-A4BA-7AFDF414B260}"/>
              </a:ext>
            </a:extLst>
          </p:cNvPr>
          <p:cNvSpPr>
            <a:spLocks noGrp="1"/>
          </p:cNvSpPr>
          <p:nvPr/>
        </p:nvSpPr>
        <p:spPr>
          <a:xfrm>
            <a:off x="7943850" y="4476750"/>
            <a:ext cx="3028950" cy="790575"/>
          </a:xfrm>
          <a:prstGeom prst="rect">
            <a:avLst/>
          </a:prstGeom>
          <a:solidFill>
            <a:srgbClr val="F7F9FA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50">
            <a:extLst>
              <a:ext uri="{FF2B5EF4-FFF2-40B4-BE49-F238E27FC236}">
                <a16:creationId xmlns:a16="http://schemas.microsoft.com/office/drawing/2014/main" id="{F3BAFB0F-9C4B-406B-B049-720627BED7D0}"/>
              </a:ext>
            </a:extLst>
          </p:cNvPr>
          <p:cNvSpPr>
            <a:spLocks noGrp="1"/>
          </p:cNvSpPr>
          <p:nvPr/>
        </p:nvSpPr>
        <p:spPr>
          <a:xfrm>
            <a:off x="8039100" y="4562475"/>
            <a:ext cx="283845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(IF</a:t>
            </a:r>
            <a:r>
              <a:rPr lang="en-US" sz="1500" baseline="-2500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M6</a:t>
            </a:r>
            <a:r>
              <a:rPr lang="en-US" sz="150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 - IF</a:t>
            </a:r>
            <a:r>
              <a:rPr lang="en-US" sz="1500" baseline="-2500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BL</a:t>
            </a:r>
            <a:r>
              <a:rPr lang="en-GB" sz="1500" b="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) – (Control</a:t>
            </a:r>
            <a:r>
              <a:rPr lang="en-GB" sz="1500" b="0" baseline="-2500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M6 </a:t>
            </a:r>
            <a:r>
              <a:rPr lang="en-GB" sz="1500" b="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GB" sz="1500" b="0" dirty="0" err="1">
                <a:solidFill>
                  <a:srgbClr val="233C49"/>
                </a:solidFill>
                <a:latin typeface="Arial"/>
                <a:ea typeface="Arial"/>
                <a:cs typeface="Arial"/>
              </a:rPr>
              <a:t>Control</a:t>
            </a:r>
            <a:r>
              <a:rPr lang="en-GB" sz="1500" b="0" baseline="-25000" dirty="0" err="1">
                <a:solidFill>
                  <a:srgbClr val="233C49"/>
                </a:solidFill>
                <a:latin typeface="Arial"/>
                <a:ea typeface="Arial"/>
                <a:cs typeface="Arial"/>
              </a:rPr>
              <a:t>BL</a:t>
            </a:r>
            <a:r>
              <a:rPr lang="en-GB" sz="150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)</a:t>
            </a:r>
            <a:r>
              <a:rPr lang="en-GB" sz="1500" b="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51" name="Shape 51">
            <a:extLst>
              <a:ext uri="{FF2B5EF4-FFF2-40B4-BE49-F238E27FC236}">
                <a16:creationId xmlns:a16="http://schemas.microsoft.com/office/drawing/2014/main" id="{D967FD1D-2625-4E82-BACD-E6EFD3498B59}"/>
              </a:ext>
            </a:extLst>
          </p:cNvPr>
          <p:cNvSpPr>
            <a:spLocks noGrp="1"/>
          </p:cNvSpPr>
          <p:nvPr/>
        </p:nvSpPr>
        <p:spPr>
          <a:xfrm>
            <a:off x="7943850" y="535305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2" name="Shape 52">
            <a:extLst>
              <a:ext uri="{FF2B5EF4-FFF2-40B4-BE49-F238E27FC236}">
                <a16:creationId xmlns:a16="http://schemas.microsoft.com/office/drawing/2014/main" id="{409C36E3-8249-4081-A4A7-C50ACC79B247}"/>
              </a:ext>
            </a:extLst>
          </p:cNvPr>
          <p:cNvSpPr>
            <a:spLocks noGrp="1"/>
          </p:cNvSpPr>
          <p:nvPr/>
        </p:nvSpPr>
        <p:spPr>
          <a:xfrm>
            <a:off x="7943850" y="5724525"/>
            <a:ext cx="3028950" cy="523875"/>
          </a:xfrm>
          <a:prstGeom prst="rect">
            <a:avLst/>
          </a:prstGeom>
          <a:solidFill>
            <a:srgbClr val="F0F7F5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5FF56D32-262A-47FA-A362-03B6D27D9FD8}"/>
              </a:ext>
            </a:extLst>
          </p:cNvPr>
          <p:cNvSpPr>
            <a:spLocks noGrp="1"/>
          </p:cNvSpPr>
          <p:nvPr/>
        </p:nvSpPr>
        <p:spPr>
          <a:xfrm>
            <a:off x="8058150" y="5772150"/>
            <a:ext cx="2800350" cy="4286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33C49"/>
                </a:solidFill>
                <a:latin typeface="Arial"/>
                <a:ea typeface="Arial"/>
                <a:cs typeface="Arial"/>
              </a:rPr>
              <a:t>GSEA GO </a:t>
            </a:r>
            <a:endParaRPr sz="1500" b="0" dirty="0">
              <a:solidFill>
                <a:srgbClr val="233C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54">
            <a:extLst>
              <a:ext uri="{FF2B5EF4-FFF2-40B4-BE49-F238E27FC236}">
                <a16:creationId xmlns:a16="http://schemas.microsoft.com/office/drawing/2014/main" id="{E5AAB0F3-1941-4ECC-99C2-FA106117A048}"/>
              </a:ext>
            </a:extLst>
          </p:cNvPr>
          <p:cNvSpPr>
            <a:spLocks noGrp="1"/>
          </p:cNvSpPr>
          <p:nvPr/>
        </p:nvSpPr>
        <p:spPr>
          <a:xfrm>
            <a:off x="7943850" y="6296025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2BCAE639-FE5B-41F8-AA1B-CAF643E45A61}"/>
              </a:ext>
            </a:extLst>
          </p:cNvPr>
          <p:cNvSpPr>
            <a:spLocks noGrp="1"/>
          </p:cNvSpPr>
          <p:nvPr/>
        </p:nvSpPr>
        <p:spPr>
          <a:xfrm>
            <a:off x="7943850" y="6648450"/>
            <a:ext cx="3028950" cy="504825"/>
          </a:xfrm>
          <a:prstGeom prst="rect">
            <a:avLst/>
          </a:prstGeom>
          <a:solidFill>
            <a:srgbClr val="F0F7F5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6">
            <a:extLst>
              <a:ext uri="{FF2B5EF4-FFF2-40B4-BE49-F238E27FC236}">
                <a16:creationId xmlns:a16="http://schemas.microsoft.com/office/drawing/2014/main" id="{9C83F388-9743-425E-9EF6-ED58FEF84B19}"/>
              </a:ext>
            </a:extLst>
          </p:cNvPr>
          <p:cNvSpPr>
            <a:spLocks noGrp="1"/>
          </p:cNvSpPr>
          <p:nvPr/>
        </p:nvSpPr>
        <p:spPr>
          <a:xfrm>
            <a:off x="8058150" y="6696075"/>
            <a:ext cx="2800350" cy="4095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Leading-edge gene analysis</a:t>
            </a:r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733F0127-81E9-46A9-B204-E1FEAED661DF}"/>
              </a:ext>
            </a:extLst>
          </p:cNvPr>
          <p:cNvSpPr>
            <a:spLocks noGrp="1"/>
          </p:cNvSpPr>
          <p:nvPr/>
        </p:nvSpPr>
        <p:spPr>
          <a:xfrm>
            <a:off x="7943850" y="7200900"/>
            <a:ext cx="3028950" cy="285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5D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17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8" name="Shape 58">
            <a:extLst>
              <a:ext uri="{FF2B5EF4-FFF2-40B4-BE49-F238E27FC236}">
                <a16:creationId xmlns:a16="http://schemas.microsoft.com/office/drawing/2014/main" id="{071C5A8E-14C0-48D2-989A-5DCDB564CD97}"/>
              </a:ext>
            </a:extLst>
          </p:cNvPr>
          <p:cNvSpPr>
            <a:spLocks noGrp="1"/>
          </p:cNvSpPr>
          <p:nvPr/>
        </p:nvSpPr>
        <p:spPr>
          <a:xfrm>
            <a:off x="7943850" y="7553325"/>
            <a:ext cx="3028950" cy="409575"/>
          </a:xfrm>
          <a:prstGeom prst="rect">
            <a:avLst/>
          </a:prstGeom>
          <a:solidFill>
            <a:srgbClr val="F0F7F5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9">
            <a:extLst>
              <a:ext uri="{FF2B5EF4-FFF2-40B4-BE49-F238E27FC236}">
                <a16:creationId xmlns:a16="http://schemas.microsoft.com/office/drawing/2014/main" id="{427861FB-AB05-496B-AF93-92F3A8631B34}"/>
              </a:ext>
            </a:extLst>
          </p:cNvPr>
          <p:cNvSpPr>
            <a:spLocks noGrp="1"/>
          </p:cNvSpPr>
          <p:nvPr/>
        </p:nvSpPr>
        <p:spPr>
          <a:xfrm>
            <a:off x="8058150" y="7600950"/>
            <a:ext cx="2800350" cy="314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Jaccard pathway overlap</a:t>
            </a:r>
          </a:p>
        </p:txBody>
      </p:sp>
      <p:sp>
        <p:nvSpPr>
          <p:cNvPr id="60" name="Shape 60">
            <a:extLst>
              <a:ext uri="{FF2B5EF4-FFF2-40B4-BE49-F238E27FC236}">
                <a16:creationId xmlns:a16="http://schemas.microsoft.com/office/drawing/2014/main" id="{EC69424C-F57A-43E1-B5FD-BE41BA91C9AC}"/>
              </a:ext>
            </a:extLst>
          </p:cNvPr>
          <p:cNvSpPr>
            <a:spLocks noGrp="1"/>
          </p:cNvSpPr>
          <p:nvPr/>
        </p:nvSpPr>
        <p:spPr>
          <a:xfrm>
            <a:off x="11620500" y="2114550"/>
            <a:ext cx="3028950" cy="962025"/>
          </a:xfrm>
          <a:prstGeom prst="rect">
            <a:avLst/>
          </a:prstGeom>
          <a:solidFill>
            <a:srgbClr val="F3F6F8"/>
          </a:solidFill>
          <a:ln w="9525">
            <a:solidFill>
              <a:srgbClr val="D6DF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F1DE083-98E6-484F-AA25-6CD0305E7E0F}"/>
              </a:ext>
            </a:extLst>
          </p:cNvPr>
          <p:cNvSpPr>
            <a:spLocks noGrp="1"/>
          </p:cNvSpPr>
          <p:nvPr/>
        </p:nvSpPr>
        <p:spPr>
          <a:xfrm>
            <a:off x="11763375" y="2266950"/>
            <a:ext cx="2743200" cy="666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No individual genes significant</a:t>
            </a:r>
          </a:p>
          <a:p>
            <a:pPr algn="l">
              <a:defRPr sz="1650" b="1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C49"/>
                </a:solidFill>
                <a:latin typeface="Arial"/>
                <a:ea typeface="Arial"/>
                <a:cs typeface="Arial"/>
              </a:rPr>
              <a:t>at FDR &lt; 0.05</a:t>
            </a:r>
          </a:p>
        </p:txBody>
      </p:sp>
      <p:sp>
        <p:nvSpPr>
          <p:cNvPr id="62" name="Shape 62">
            <a:extLst>
              <a:ext uri="{FF2B5EF4-FFF2-40B4-BE49-F238E27FC236}">
                <a16:creationId xmlns:a16="http://schemas.microsoft.com/office/drawing/2014/main" id="{EFE6AFCC-C9E1-444E-98CB-7174E0C6C26F}"/>
              </a:ext>
            </a:extLst>
          </p:cNvPr>
          <p:cNvSpPr>
            <a:spLocks noGrp="1"/>
          </p:cNvSpPr>
          <p:nvPr/>
        </p:nvSpPr>
        <p:spPr>
          <a:xfrm>
            <a:off x="11620500" y="3400425"/>
            <a:ext cx="3028950" cy="295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486D9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86D91"/>
                </a:solidFill>
                <a:latin typeface="Arial"/>
                <a:ea typeface="Arial"/>
                <a:cs typeface="Arial"/>
              </a:rPr>
              <a:t>Negative pathway enrichment</a:t>
            </a: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45CEAB9C-C30D-4428-8CFB-0578A035DC0C}"/>
              </a:ext>
            </a:extLst>
          </p:cNvPr>
          <p:cNvSpPr>
            <a:spLocks noGrp="1"/>
          </p:cNvSpPr>
          <p:nvPr/>
        </p:nvSpPr>
        <p:spPr>
          <a:xfrm>
            <a:off x="11620500" y="3800475"/>
            <a:ext cx="38100" cy="1933575"/>
          </a:xfrm>
          <a:prstGeom prst="rect">
            <a:avLst/>
          </a:prstGeom>
          <a:solidFill>
            <a:srgbClr val="486D91"/>
          </a:solidFill>
          <a:ln w="9525">
            <a:solidFill>
              <a:srgbClr val="486D9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4">
            <a:extLst>
              <a:ext uri="{FF2B5EF4-FFF2-40B4-BE49-F238E27FC236}">
                <a16:creationId xmlns:a16="http://schemas.microsoft.com/office/drawing/2014/main" id="{EAECAAC5-E535-4898-9C0B-AFF9BCE07F0A}"/>
              </a:ext>
            </a:extLst>
          </p:cNvPr>
          <p:cNvSpPr>
            <a:spLocks noGrp="1"/>
          </p:cNvSpPr>
          <p:nvPr/>
        </p:nvSpPr>
        <p:spPr>
          <a:xfrm>
            <a:off x="11782425" y="3781425"/>
            <a:ext cx="2867025" cy="19526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Insulin secretion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Hormone secretion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Glucose response/homeostasis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Lipid regulation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Oxidative phosphorylation</a:t>
            </a:r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D20148ED-A888-4A97-B533-38CC3094AD17}"/>
              </a:ext>
            </a:extLst>
          </p:cNvPr>
          <p:cNvSpPr>
            <a:spLocks noGrp="1"/>
          </p:cNvSpPr>
          <p:nvPr/>
        </p:nvSpPr>
        <p:spPr>
          <a:xfrm>
            <a:off x="11620500" y="6086475"/>
            <a:ext cx="3028950" cy="295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87D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7D78"/>
                </a:solidFill>
                <a:latin typeface="Arial"/>
                <a:ea typeface="Arial"/>
                <a:cs typeface="Arial"/>
              </a:rPr>
              <a:t>Positive pathway enrichment</a:t>
            </a:r>
          </a:p>
        </p:txBody>
      </p:sp>
      <p:sp>
        <p:nvSpPr>
          <p:cNvPr id="66" name="Shape 66">
            <a:extLst>
              <a:ext uri="{FF2B5EF4-FFF2-40B4-BE49-F238E27FC236}">
                <a16:creationId xmlns:a16="http://schemas.microsoft.com/office/drawing/2014/main" id="{F16ED445-0D95-499E-A1D0-266FC2232C8C}"/>
              </a:ext>
            </a:extLst>
          </p:cNvPr>
          <p:cNvSpPr>
            <a:spLocks noGrp="1"/>
          </p:cNvSpPr>
          <p:nvPr/>
        </p:nvSpPr>
        <p:spPr>
          <a:xfrm>
            <a:off x="11620500" y="6496050"/>
            <a:ext cx="38100" cy="1409700"/>
          </a:xfrm>
          <a:prstGeom prst="rect">
            <a:avLst/>
          </a:prstGeom>
          <a:solidFill>
            <a:srgbClr val="287D78"/>
          </a:solidFill>
          <a:ln w="9525">
            <a:solidFill>
              <a:srgbClr val="287D7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7">
            <a:extLst>
              <a:ext uri="{FF2B5EF4-FFF2-40B4-BE49-F238E27FC236}">
                <a16:creationId xmlns:a16="http://schemas.microsoft.com/office/drawing/2014/main" id="{7E55DD47-2434-4C50-AA30-140A8D0D2A52}"/>
              </a:ext>
            </a:extLst>
          </p:cNvPr>
          <p:cNvSpPr>
            <a:spLocks noGrp="1"/>
          </p:cNvSpPr>
          <p:nvPr/>
        </p:nvSpPr>
        <p:spPr>
          <a:xfrm>
            <a:off x="11782425" y="6448425"/>
            <a:ext cx="2867025" cy="1457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DNA replication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DNA repair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Chromosome segregation</a:t>
            </a:r>
          </a:p>
          <a:p>
            <a:pPr algn="l">
              <a:defRPr sz="1500" b="0">
                <a:solidFill>
                  <a:srgbClr val="233C4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C49"/>
                </a:solidFill>
                <a:latin typeface="Arial"/>
                <a:ea typeface="Arial"/>
                <a:cs typeface="Arial"/>
              </a:rPr>
              <a:t>Cell-cycle processes</a:t>
            </a:r>
          </a:p>
        </p:txBody>
      </p:sp>
    </p:spTree>
    <p:extLst>
      <p:ext uri="{BB962C8B-B14F-4D97-AF65-F5344CB8AC3E}">
        <p14:creationId xmlns:p14="http://schemas.microsoft.com/office/powerpoint/2010/main" val="4341957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DocSecurity>0</DocSecurity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ARINES, JUSTIN (UG)</cp:lastModifiedBy>
  <cp:revision>1</cp:revision>
  <dcterms:created xsi:type="dcterms:W3CDTF">2026-09-18T10:01:53Z</dcterms:created>
  <dcterms:modified xsi:type="dcterms:W3CDTF">2026-09-18T10:12:54Z</dcterms:modified>
</cp:coreProperties>
</file>